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N.º esperado de 1s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622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49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Estimación MCMC</c:v>
                  </c:pt>
                  <c:pt idx="1">
                    <c:v>Valor exacto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27.833</c:v>
                </c:pt>
                <c:pt idx="1">
                  <c:v>27.7921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600" u="none">
                  <a:solidFill>
                    <a:srgbClr val="1622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E73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.2"/>
          <c:min val="2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3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806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5934456"/>
            <a:ext cx="1618488" cy="0"/>
          </a:xfrm>
          <a:prstGeom prst="line">
            <a:avLst/>
          </a:prstGeom>
          <a:noFill/>
          <a:ln w="19050">
            <a:solidFill>
              <a:srgbClr val="2950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97480" y="5806440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2953512" y="5934456"/>
            <a:ext cx="1618488" cy="0"/>
          </a:xfrm>
          <a:prstGeom prst="line">
            <a:avLst/>
          </a:prstGeom>
          <a:noFill/>
          <a:ln w="19050">
            <a:solidFill>
              <a:srgbClr val="295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806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828032" y="5934456"/>
            <a:ext cx="1618488" cy="0"/>
          </a:xfrm>
          <a:prstGeom prst="line">
            <a:avLst/>
          </a:prstGeom>
          <a:noFill/>
          <a:ln w="19050">
            <a:solidFill>
              <a:srgbClr val="2950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5806440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6702552" y="5934456"/>
            <a:ext cx="1618488" cy="0"/>
          </a:xfrm>
          <a:prstGeom prst="line">
            <a:avLst/>
          </a:prstGeom>
          <a:noFill/>
          <a:ln w="19050">
            <a:solidFill>
              <a:srgbClr val="295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58064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8577072" y="5934456"/>
            <a:ext cx="1618488" cy="0"/>
          </a:xfrm>
          <a:prstGeom prst="line">
            <a:avLst/>
          </a:prstGeom>
          <a:noFill/>
          <a:ln w="19050">
            <a:solidFill>
              <a:srgbClr val="2950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95560" y="5806440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CAPÍTULO 5  ·  SECCIÓN 5.1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2606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Markov Chain Monte Carlo</a:t>
            </a:r>
            <a:endParaRPr lang="en-US" sz="5000" dirty="0"/>
          </a:p>
        </p:txBody>
      </p:sp>
      <p:sp>
        <p:nvSpPr>
          <p:cNvPr id="16" name="Text 13"/>
          <p:cNvSpPr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Introducción: simular distribuciones complejas mediante cadenas de Markov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 </a:t>
            </a:r>
            <a:pPr indent="0" marL="0">
              <a:buNone/>
            </a:pPr>
            <a:r>
              <a:rPr lang="en-US" sz="13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Stochastic Processes with R</a:t>
            </a:r>
            <a:pPr indent="0" marL="0">
              <a:buNone/>
            </a:pPr>
            <a:r>
              <a:rPr lang="en-US" sz="13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R. P. Dobrow (Wiley, 2016)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fundamental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generar muestras de una distribución de probabilidad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compleja y de alta dimensión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cuando muestrearla de forma directa es intratable?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estadística bayesiana, física estadística, biología, criptografía, aprendizaje automático y más.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840480" cy="35661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10312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MCMC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92440" y="3429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metodología que usa secuencias de Markov para muestrear lo que de otro modo sería inalcanzable.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“Uno de los 10 algoritmos más importantes del siglo XX”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idea central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simular  </a:t>
            </a:r>
            <a:pPr indent="0" marL="0">
              <a:buNone/>
            </a:pPr>
            <a:r>
              <a:rPr lang="en-US" sz="1900" b="1" dirty="0">
                <a:solidFill>
                  <a:srgbClr val="134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∼ π</a:t>
            </a:r>
            <a:pPr indent="0" marL="0"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una distribución objetivo  </a:t>
            </a:r>
            <a:pPr indent="0" marL="0">
              <a:buNone/>
            </a:pPr>
            <a:r>
              <a:rPr lang="en-US" sz="1900" b="1" dirty="0">
                <a:solidFill>
                  <a:srgbClr val="134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</a:t>
            </a:r>
            <a:pPr indent="0" marL="0"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 menudo para estimar una esperanza).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23317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97480"/>
            <a:ext cx="3429000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63240"/>
            <a:ext cx="640080" cy="640080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270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cadena de Markov ergódica cuya distribución límite sea exactamente π.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3944" y="3717036"/>
            <a:ext cx="292608" cy="292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80560" y="2697480"/>
            <a:ext cx="3429000" cy="23317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2697480"/>
            <a:ext cx="3429000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3063240"/>
            <a:ext cx="640080" cy="640080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54880" y="3840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Correr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54880" y="4270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la cadena el tiempo suficiente para que (casi) converja a su distribución estacionaria.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4" y="3717036"/>
            <a:ext cx="292608" cy="29260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321040" y="2697480"/>
            <a:ext cx="3429000" cy="233172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2697480"/>
            <a:ext cx="3429000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Shape 17"/>
          <p:cNvSpPr/>
          <p:nvPr/>
        </p:nvSpPr>
        <p:spPr>
          <a:xfrm>
            <a:off x="8595360" y="3063240"/>
            <a:ext cx="640080" cy="640080"/>
          </a:xfrm>
          <a:prstGeom prst="ellipse">
            <a:avLst/>
          </a:prstGeom>
          <a:solidFill>
            <a:srgbClr val="13496B"/>
          </a:solidFill>
          <a:ln/>
        </p:spPr>
      </p:sp>
      <p:sp>
        <p:nvSpPr>
          <p:cNvPr id="22" name="Text 18"/>
          <p:cNvSpPr/>
          <p:nvPr/>
        </p:nvSpPr>
        <p:spPr>
          <a:xfrm>
            <a:off x="85953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595360" y="3840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Muestrear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595360" y="4270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los últimos elementos de la secuencia como una muestra de π.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necesitamos saber muestrear π directamente: solo necesitamos una cadena que la tenga como distribución de equilibrio.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funciona? La Ley de los Grandes Números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cadenas de Markov ergódicas comparten propiedades límite con las secuencias i.i.d.: vale una ley fuerte de los grandes números.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17830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97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Teorema 5.1 — LFGN para cadenas de Markov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X₀, X₁, …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 ergódica con distribución estacionaria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 r  es acotada, entonces con probabilidad 1: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· [ r(X₁) + ⋯ + r(Xₙ) ]   ⟶   E[r(X)] = Σⱼ r(j)·πⱼ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cadena no es independiente, las excursiones sucesivas entre visitas a un mismo estado sí lo son. Eso basta para que el promedio temporal converja al valor esperado bajo π.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Interpretación: tiempo de permanencia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78308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Tomando  r = I</a:t>
            </a:r>
            <a:pPr indent="0" marL="0">
              <a:lnSpc>
                <a:spcPct val="115000"/>
              </a:lnSpc>
              <a:buNone/>
            </a:pPr>
            <a:r>
              <a:rPr lang="en-US" sz="1900" b="1" baseline="-40000" dirty="0">
                <a:solidFill>
                  <a:srgbClr val="134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(la indicadora de un subconjunto A del espacio de estados), el teorema dice que la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fracción del tiempo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la cadena pasa en A converge a su probabilidad bajo π.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2560320" y="3291840"/>
            <a:ext cx="7040880" cy="114300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0" y="329184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4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(1/n) · Σ Iₐ(Xₖ)   ⟶   P(X ∈ A) = π(A)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práctica: promediar una función a lo largo de una sola trayectoria larga estima esperanzas y probabilidades bajo π — sin muestrear π directamente.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5.1 — El almuerzo de Bob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737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elecciones diarias de almuerzo de Bob siguen una cadena de Markov ergódica. A cada estado se le asocia un costo. ¿Cuánto gasta en promedio a largo plazo?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7406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Ensalada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Hamburguesa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(estacionaria)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75320" y="2743200"/>
            <a:ext cx="3246120" cy="233172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45820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medio a largo plazo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45820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$4.72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845820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E[r(X)] = Σₓ r(x)·π(x) = 3·(7/65) + 4·(2/13 + 6/13) + 7·(18/65) = 4.72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 GUÍA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de estudio: secuencias binarias sin unos adyacentes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secuencia de 0s y 1s de longitud m es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“buena”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no tiene dos 1s adyacentes. Si todas las secuencias buenas son igualmente probables, ¿cuál es el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esperado de 1s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486400" cy="246888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4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pequeño: m =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secuencias posibles; 8 son buenas: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0000  1000  0100  0010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0001  1010  1001  0101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exacta = 1.25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971800"/>
            <a:ext cx="5120640" cy="24688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general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3611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fórmula cerrada simple para la esperanza cuando m crece.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7512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Lo abordamos por simulación.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MCMC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 intento: el método de rechazo no escala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ingenua: tirar m monedas para generar una secuencia cualquiera; si es buena, conservarla; si tiene 1s adyacentes, rechazarla y reintentar.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3429000" cy="1737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34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10³⁰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binarias de longitud 100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62272" y="2926080"/>
            <a:ext cx="3429000" cy="1737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45152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10²¹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690872" y="4069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ellas son “buenas”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84464" y="2926080"/>
            <a:ext cx="3429000" cy="1737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67344" y="32004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A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10⁻⁹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8513064" y="4069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acertar una buena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 = 100 habría que generar ~1.000 millones de secuencias para hallar una sola buena. Prohibitivamente lento.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MÉTODO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MCMC: caminata aleatoria sobre el grafo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una cadena ergódica sobre el conjunto de secuencias buenas, con distribución límite uniforme. Desde una secuencia buena, se elige una posición al azar: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49240" cy="169164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971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posición es un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cambia a 0. Quitar un 1 nunca crea adyacencias, así que la secuencia sigue siendo buena y la caminata se mueve.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697480"/>
            <a:ext cx="5349240" cy="169164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971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2971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posición es un 0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46520" y="35204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cambia a 1 sólo si el resultado sigue siendo bueno; si crearía 1s adyacentes, la caminata se queda en su lugar.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4617720"/>
            <a:ext cx="10881360" cy="118872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83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8006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uniforme?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caminata sobre un grafo ponderado donde cada vértice tiene el mismo peso total (con autolazos que completan hasta m). Pesos iguales ⟶ distribución estacionaria uniforme.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Resultados: m = 100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se corrió 100.000 pasos (≈ 2 segundos en una laptop), partiendo de la secuencia de todos 0s.</a:t>
            </a:r>
            <a:endParaRPr lang="en-US" sz="1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468880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2468880"/>
            <a:ext cx="4160520" cy="155448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60920" y="26060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27.833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60920" y="33832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MCMC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60920" y="4160520"/>
            <a:ext cx="4160520" cy="15544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B254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60920" y="42976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27.7921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360920" y="50749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exacto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MCMC es poderoso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1349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9933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 lo enorme con pocos pasos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74520" y="243230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 tiene ~10²¹ vértices, pero bastan 100.000 pasos para acercarse a la distribución límite.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3337560"/>
            <a:ext cx="777240" cy="777240"/>
          </a:xfrm>
          <a:prstGeom prst="ellipse">
            <a:avLst/>
          </a:prstGeom>
          <a:solidFill>
            <a:srgbClr val="1349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204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33192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necesita la constante de normalización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874520" y="375818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total de secuencias buenas c nunca se usa; a efectos prácticos puede ser desconocido.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22960" y="4663440"/>
            <a:ext cx="777240" cy="777240"/>
          </a:xfrm>
          <a:prstGeom prst="ellipse">
            <a:avLst/>
          </a:prstGeom>
          <a:solidFill>
            <a:srgbClr val="1349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46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74520" y="4645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e intuitivo de programar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874520" y="508406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surge naturalmente de la estructura del problema y se codifica en pocas líneas.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22960" y="6172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 ▸ 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Algoritmo de Metropolis–Hastings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MCMC 5.1 — Introducción</dc:title>
  <dc:subject>PptxGenJS Presentation</dc:subject>
  <dc:creator>Soporte de presentación</dc:creator>
  <cp:lastModifiedBy>Soporte de presentación</cp:lastModifiedBy>
  <cp:revision>1</cp:revision>
  <dcterms:created xsi:type="dcterms:W3CDTF">2026-06-04T21:00:43Z</dcterms:created>
  <dcterms:modified xsi:type="dcterms:W3CDTF">2026-06-04T21:00:43Z</dcterms:modified>
</cp:coreProperties>
</file>