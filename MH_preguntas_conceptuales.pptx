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9C4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CAPÍTULO 5 · MCMC — SECCIÓN 5.2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1691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Metropolis–Hastings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conceptuales y demostración del balance detallado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11880" y="4160520"/>
            <a:ext cx="310896" cy="31089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6" name="Shape 4"/>
          <p:cNvSpPr/>
          <p:nvPr/>
        </p:nvSpPr>
        <p:spPr>
          <a:xfrm>
            <a:off x="3922776" y="4315968"/>
            <a:ext cx="512064" cy="0"/>
          </a:xfrm>
          <a:prstGeom prst="line">
            <a:avLst/>
          </a:prstGeom>
          <a:noFill/>
          <a:ln w="25400">
            <a:solidFill>
              <a:srgbClr val="5E7C9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434840" y="4160520"/>
            <a:ext cx="310896" cy="310896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8" name="Shape 6"/>
          <p:cNvSpPr/>
          <p:nvPr/>
        </p:nvSpPr>
        <p:spPr>
          <a:xfrm>
            <a:off x="4745736" y="4315968"/>
            <a:ext cx="512064" cy="0"/>
          </a:xfrm>
          <a:prstGeom prst="line">
            <a:avLst/>
          </a:prstGeom>
          <a:noFill/>
          <a:ln w="25400">
            <a:solidFill>
              <a:srgbClr val="5E7C9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257800" y="4160520"/>
            <a:ext cx="310896" cy="31089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Basado en R. P. Dobrow, Introduction to Stochastic Processes with R (Wiley, 2016)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88900" dist="38100" dir="5400000">
              <a:srgbClr val="0E2A47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612648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75488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PREGUNTA 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7132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puntaje de una función f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480060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puntaje de f es el producto, sobre todos los pares de caracteres consecutivos del texto ya descifrado, de su frecuencia de bigrama en el corpus inglés (la matriz M).</a:t>
            </a:r>
            <a:endParaRPr lang="en-US" sz="14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 correcta reutiliza los bigramas frecuentes del inglés (th, he, in…): cada factor es grande y el producto se dispara.</a:t>
            </a:r>
            <a:endParaRPr lang="en-US" sz="14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 incorrecta produce pares raros o imposibles (qz, jx…): el producto se desploma.</a:t>
            </a:r>
            <a:endParaRPr lang="en-US" sz="14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M–H no busca el máximo: muestrea ∝ al puntaje. En la práctica se trabaja en logaritmos para evitar el desbordamiento.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623560" y="1965960"/>
            <a:ext cx="3017520" cy="1417320"/>
          </a:xfrm>
          <a:prstGeom prst="roundRect">
            <a:avLst>
              <a:gd name="adj" fmla="val 5161"/>
            </a:avLst>
          </a:prstGeom>
          <a:solidFill>
            <a:srgbClr val="F2F6F8"/>
          </a:solidFill>
          <a:ln w="12700">
            <a:solidFill>
              <a:srgbClr val="E7EEF2"/>
            </a:solidFill>
            <a:prstDash val="solid"/>
          </a:ln>
          <a:effectLst>
            <a:outerShdw sx="100000" sy="100000" kx="0" ky="0" algn="bl" rotWithShape="0" blurRad="88900" dist="38100" dir="5400000">
              <a:srgbClr val="0E2A47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806440" y="21671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Definición del puntaje</a:t>
            </a:r>
            <a:endParaRPr lang="en-US" sz="1200" dirty="0"/>
          </a:p>
        </p:txBody>
      </p:sp>
      <p:pic>
        <p:nvPicPr>
          <p:cNvPr id="9" name="Image 1" descr="eq/sco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613147"/>
            <a:ext cx="2560320" cy="50699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88900" dist="38100" dir="5400000">
              <a:srgbClr val="0E2A47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612648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75488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PREGUNTA 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7132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Cadena reversible e irreducible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3931920" cy="3063240"/>
          </a:xfrm>
          <a:prstGeom prst="roundRect">
            <a:avLst>
              <a:gd name="adj" fmla="val 2388"/>
            </a:avLst>
          </a:prstGeom>
          <a:solidFill>
            <a:srgbClr val="F2F6F8"/>
          </a:solidFill>
          <a:ln w="12700">
            <a:solidFill>
              <a:srgbClr val="E7EEF2"/>
            </a:solidFill>
            <a:prstDash val="solid"/>
          </a:ln>
          <a:effectLst>
            <a:outerShdw sx="100000" sy="100000" kx="0" ky="0" algn="bl" rotWithShape="0" blurRad="88900" dist="38100" dir="5400000">
              <a:srgbClr val="0E2A47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1828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IRREDUCIBLE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19456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cualquier estado se puede llegar a cualquier otro en un número finito de pasos.</a:t>
            </a:r>
            <a:endParaRPr lang="en-US" sz="14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espacio de estados es “todo alcanzable”: no hay regiones aisladas.</a:t>
            </a:r>
            <a:endParaRPr lang="en-US" sz="14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M–H funciona con cualquier propuesta T irreducible.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663440" y="1645920"/>
            <a:ext cx="3931920" cy="3063240"/>
          </a:xfrm>
          <a:prstGeom prst="roundRect">
            <a:avLst>
              <a:gd name="adj" fmla="val 2388"/>
            </a:avLst>
          </a:prstGeom>
          <a:solidFill>
            <a:srgbClr val="F2F6F8"/>
          </a:solidFill>
          <a:ln w="12700">
            <a:solidFill>
              <a:srgbClr val="E7EEF2"/>
            </a:solidFill>
            <a:prstDash val="solid"/>
          </a:ln>
          <a:effectLst>
            <a:outerShdw sx="100000" sy="100000" kx="0" ky="0" algn="bl" rotWithShape="0" blurRad="88900" dist="38100" dir="5400000">
              <a:srgbClr val="0E2A47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892040" y="1828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REVERSIBLE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892040" y="21945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Cumple el balance detallado para todo par de estados:</a:t>
            </a:r>
            <a:endParaRPr lang="en-US" sz="1400" dirty="0"/>
          </a:p>
        </p:txBody>
      </p:sp>
      <p:pic>
        <p:nvPicPr>
          <p:cNvPr id="12" name="Image 1" descr="eq/d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8251" y="2578608"/>
            <a:ext cx="2362297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92040" y="324612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Intuición: filmar la cadena en estacionariedad y pasarla al revés es indistinguible.</a:t>
            </a:r>
            <a:endParaRPr lang="en-US" sz="14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propiedad que M–H garantiza por construcción.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88900" dist="38100" dir="5400000">
              <a:srgbClr val="0E2A47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612648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75488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PREGUNTA 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7132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Objetivo del algoritmo M–H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480060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una cadena de Markov cuya distribución estacionaria sea una distribución objetivo π que querés muestrear.</a:t>
            </a:r>
            <a:endParaRPr lang="en-US" sz="14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Sirve cuando no podés muestrear π directamente, p. ej. porque su constante de normalización es intratable (las 27! permutaciones del cifrado).</a:t>
            </a:r>
            <a:endParaRPr lang="en-US" sz="14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Corriendo la cadena lo suficiente, sus estados quedan distribuidos ≈ π.</a:t>
            </a:r>
            <a:endParaRPr lang="en-US" sz="14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la ley fuerte de los grandes números para cadenas de Markov, los promedios temporales estiman esperanzas E_π[r].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623560" y="2103120"/>
            <a:ext cx="3017520" cy="1188720"/>
          </a:xfrm>
          <a:prstGeom prst="roundRect">
            <a:avLst>
              <a:gd name="adj" fmla="val 6154"/>
            </a:avLst>
          </a:prstGeom>
          <a:solidFill>
            <a:srgbClr val="F2F6F8"/>
          </a:solidFill>
          <a:ln w="12700">
            <a:solidFill>
              <a:srgbClr val="E7EEF2"/>
            </a:solidFill>
            <a:prstDash val="solid"/>
          </a:ln>
          <a:effectLst>
            <a:outerShdw sx="100000" sy="100000" kx="0" ky="0" algn="bl" rotWithShape="0" blurRad="88900" dist="38100" dir="5400000">
              <a:srgbClr val="0E2A47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806440" y="23042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Promedios temporales</a:t>
            </a:r>
            <a:endParaRPr lang="en-US" sz="1200" dirty="0"/>
          </a:p>
        </p:txBody>
      </p:sp>
      <p:pic>
        <p:nvPicPr>
          <p:cNvPr id="9" name="Image 1" descr="eq/sll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4073" y="2688336"/>
            <a:ext cx="1856493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88900" dist="38100" dir="5400000">
              <a:srgbClr val="0E2A47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612648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75488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PREGUNTA 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7132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es π?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480060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distribución objetivo: aquella de la que querés muestrear, y que M–H fija como estacionaria de la cadena.</a:t>
            </a:r>
            <a:endParaRPr lang="en-US" sz="14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cifrado: π(f) es proporcional al puntaje de f.</a:t>
            </a:r>
            <a:endParaRPr lang="en-US" sz="14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Clave: el algoritmo solo usa cocientes π_j / π_i. Por eso π hace falta conocerla únicamente salvo una constante de proporcionalidad.</a:t>
            </a:r>
            <a:endParaRPr lang="en-US" sz="14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constante de normalización nunca se calcula.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623560" y="1874520"/>
            <a:ext cx="3017520" cy="1051560"/>
          </a:xfrm>
          <a:prstGeom prst="roundRect">
            <a:avLst>
              <a:gd name="adj" fmla="val 6957"/>
            </a:avLst>
          </a:prstGeom>
          <a:solidFill>
            <a:srgbClr val="F2F6F8"/>
          </a:solidFill>
          <a:ln w="12700">
            <a:solidFill>
              <a:srgbClr val="E7EEF2"/>
            </a:solidFill>
            <a:prstDash val="solid"/>
          </a:ln>
          <a:effectLst>
            <a:outerShdw sx="100000" sy="100000" kx="0" ky="0" algn="bl" rotWithShape="0" blurRad="88900" dist="38100" dir="5400000">
              <a:srgbClr val="0E2A47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806440" y="20756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 del cifrado</a:t>
            </a:r>
            <a:endParaRPr lang="en-US" sz="1200" dirty="0"/>
          </a:p>
        </p:txBody>
      </p:sp>
      <p:pic>
        <p:nvPicPr>
          <p:cNvPr id="9" name="Image 1" descr="eq/pip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014" y="2459736"/>
            <a:ext cx="1702613" cy="26517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623560" y="3108960"/>
            <a:ext cx="3017520" cy="1234440"/>
          </a:xfrm>
          <a:prstGeom prst="roundRect">
            <a:avLst>
              <a:gd name="adj" fmla="val 5926"/>
            </a:avLst>
          </a:prstGeom>
          <a:solidFill>
            <a:srgbClr val="F2F6F8"/>
          </a:solidFill>
          <a:ln w="12700">
            <a:solidFill>
              <a:srgbClr val="E7EEF2"/>
            </a:solidFill>
            <a:prstDash val="solid"/>
          </a:ln>
          <a:effectLst>
            <a:outerShdw sx="100000" sy="100000" kx="0" ky="0" algn="bl" rotWithShape="0" blurRad="88900" dist="38100" dir="5400000">
              <a:srgbClr val="0E2A47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5806440" y="33101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único que se necesita</a:t>
            </a:r>
            <a:endParaRPr lang="en-US" sz="1200" dirty="0"/>
          </a:p>
        </p:txBody>
      </p:sp>
      <p:pic>
        <p:nvPicPr>
          <p:cNvPr id="12" name="Image 2" descr="eq/rati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1891" y="3694176"/>
            <a:ext cx="2520859" cy="4480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88900" dist="38100" dir="5400000">
              <a:srgbClr val="0E2A47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612648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75488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PREGUNTA 5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7132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Distribución estacionaria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480060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 es estacionaria para la matriz de transición P si π = πP.</a:t>
            </a:r>
            <a:endParaRPr lang="en-US" sz="14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invariante bajo la dinámica: si la cadena ya está distribuida según π, tras un paso sigue distribuida igual.</a:t>
            </a:r>
            <a:endParaRPr lang="en-US" sz="14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distribución límite hacia la que converge la cadena al correr muchos pasos.</a:t>
            </a:r>
            <a:endParaRPr lang="en-US" sz="14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diseño de M–H consiste en elegir la regla de aceptación para que esa estacionaria coincida con la π objetivo.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623560" y="2240280"/>
            <a:ext cx="3017520" cy="960120"/>
          </a:xfrm>
          <a:prstGeom prst="roundRect">
            <a:avLst>
              <a:gd name="adj" fmla="val 7619"/>
            </a:avLst>
          </a:prstGeom>
          <a:solidFill>
            <a:srgbClr val="F2F6F8"/>
          </a:solidFill>
          <a:ln w="12700">
            <a:solidFill>
              <a:srgbClr val="E7EEF2"/>
            </a:solidFill>
            <a:prstDash val="solid"/>
          </a:ln>
          <a:effectLst>
            <a:outerShdw sx="100000" sy="100000" kx="0" ky="0" algn="bl" rotWithShape="0" blurRad="88900" dist="38100" dir="5400000">
              <a:srgbClr val="0E2A47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806440" y="24414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Invariancia</a:t>
            </a:r>
            <a:endParaRPr lang="en-US" sz="1200" dirty="0"/>
          </a:p>
        </p:txBody>
      </p:sp>
      <p:pic>
        <p:nvPicPr>
          <p:cNvPr id="9" name="Image 1" descr="eq/st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9689" y="2825496"/>
            <a:ext cx="485263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88900" dist="38100" dir="5400000">
              <a:srgbClr val="0E2A47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612648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75488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PREGUNTA 6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7132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es U?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480060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variable aleatoria uniforme en (0,1), sorteada de nuevo e independientemente en cada iteración. No es un estado ni un conjunto.</a:t>
            </a:r>
            <a:endParaRPr lang="en-US" sz="14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“dado” que implementa la aceptación probabilística: aceptar con probabilidad a equivale a sortear U y aceptar si U ≤ a (porque P(U ≤ a) = a).</a:t>
            </a:r>
            <a:endParaRPr lang="en-US" sz="14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código es el runif(1) de la línea de aceptación; en la versión en logaritmos, log(runif(1)) &lt; ps − cur.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623560" y="1828800"/>
            <a:ext cx="3017520" cy="1051560"/>
          </a:xfrm>
          <a:prstGeom prst="roundRect">
            <a:avLst>
              <a:gd name="adj" fmla="val 6957"/>
            </a:avLst>
          </a:prstGeom>
          <a:solidFill>
            <a:srgbClr val="F2F6F8"/>
          </a:solidFill>
          <a:ln w="12700">
            <a:solidFill>
              <a:srgbClr val="E7EEF2"/>
            </a:solidFill>
            <a:prstDash val="solid"/>
          </a:ln>
          <a:effectLst>
            <a:outerShdw sx="100000" sy="100000" kx="0" ky="0" algn="bl" rotWithShape="0" blurRad="88900" dist="38100" dir="5400000">
              <a:srgbClr val="0E2A47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806440" y="20299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qué funciona</a:t>
            </a:r>
            <a:endParaRPr lang="en-US" sz="1200" dirty="0"/>
          </a:p>
        </p:txBody>
      </p:sp>
      <p:pic>
        <p:nvPicPr>
          <p:cNvPr id="9" name="Image 1" descr="eq/u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420071"/>
            <a:ext cx="2560320" cy="25306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623560" y="3063240"/>
            <a:ext cx="3017520" cy="1143000"/>
          </a:xfrm>
          <a:prstGeom prst="roundRect">
            <a:avLst>
              <a:gd name="adj" fmla="val 6400"/>
            </a:avLst>
          </a:prstGeom>
          <a:solidFill>
            <a:srgbClr val="F2F6F8"/>
          </a:solidFill>
          <a:ln w="12700">
            <a:solidFill>
              <a:srgbClr val="E7EEF2"/>
            </a:solidFill>
            <a:prstDash val="solid"/>
          </a:ln>
          <a:effectLst>
            <a:outerShdw sx="100000" sy="100000" kx="0" ky="0" algn="bl" rotWithShape="0" blurRad="88900" dist="38100" dir="5400000">
              <a:srgbClr val="0E2A47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5806440" y="32644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Regla de aceptación</a:t>
            </a:r>
            <a:endParaRPr lang="en-US" sz="1200" dirty="0"/>
          </a:p>
        </p:txBody>
      </p:sp>
      <p:pic>
        <p:nvPicPr>
          <p:cNvPr id="12" name="Image 2" descr="eq/u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3680376"/>
            <a:ext cx="2560320" cy="2927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88900" dist="38100" dir="5400000">
              <a:srgbClr val="0E2A47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612648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75488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PREGUNTA 7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7132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qué a(i,j) se simplifica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8046720" cy="960120"/>
          </a:xfrm>
          <a:prstGeom prst="roundRect">
            <a:avLst>
              <a:gd name="adj" fmla="val 7619"/>
            </a:avLst>
          </a:prstGeom>
          <a:solidFill>
            <a:srgbClr val="0E2A47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700784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50" kern="0" dirty="0">
                <a:solidFill>
                  <a:srgbClr val="E9C4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 GENERAL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703320" y="1691640"/>
            <a:ext cx="2743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E2A47"/>
            </a:solidFill>
            <a:prstDash val="solid"/>
          </a:ln>
        </p:spPr>
      </p:sp>
      <p:pic>
        <p:nvPicPr>
          <p:cNvPr id="9" name="Image 1" descr="eq/ag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765" y="1737360"/>
            <a:ext cx="1704309" cy="6400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2697480"/>
            <a:ext cx="3931920" cy="2103120"/>
          </a:xfrm>
          <a:prstGeom prst="roundRect">
            <a:avLst>
              <a:gd name="adj" fmla="val 3478"/>
            </a:avLst>
          </a:prstGeom>
          <a:solidFill>
            <a:srgbClr val="F2F6F8"/>
          </a:solidFill>
          <a:ln w="12700">
            <a:solidFill>
              <a:srgbClr val="E7EEF2"/>
            </a:solidFill>
            <a:prstDash val="solid"/>
          </a:ln>
          <a:effectLst>
            <a:outerShdw sx="100000" sy="100000" kx="0" ky="0" algn="bl" rotWithShape="0" blurRad="88900" dist="38100" dir="5400000">
              <a:srgbClr val="0E2A47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777240" y="28529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 A · π uniforme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777240" y="31546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π_j / π_i = 1 se cancela, sobrevive la propuesta:</a:t>
            </a:r>
            <a:endParaRPr lang="en-US" sz="1300" dirty="0"/>
          </a:p>
        </p:txBody>
      </p:sp>
      <p:pic>
        <p:nvPicPr>
          <p:cNvPr id="13" name="Image 2" descr="eq/auni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4267" y="3584448"/>
            <a:ext cx="1480667" cy="6400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77240" y="437083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Ej.: secuencias “buenas” (Sección 5.1)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4663440" y="2697480"/>
            <a:ext cx="3931920" cy="2103120"/>
          </a:xfrm>
          <a:prstGeom prst="roundRect">
            <a:avLst>
              <a:gd name="adj" fmla="val 3478"/>
            </a:avLst>
          </a:prstGeom>
          <a:solidFill>
            <a:srgbClr val="F2F6F8"/>
          </a:solidFill>
          <a:ln w="12700">
            <a:solidFill>
              <a:srgbClr val="E7EEF2"/>
            </a:solidFill>
            <a:prstDash val="solid"/>
          </a:ln>
          <a:effectLst>
            <a:outerShdw sx="100000" sy="100000" kx="0" ky="0" algn="bl" rotWithShape="0" blurRad="88900" dist="38100" dir="5400000">
              <a:srgbClr val="0E2A47">
                <a:alpha val="12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4892040" y="28529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 B · propuesta T simétrica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4892040" y="31546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T_ij = T_ji se cancela, sobrevive el objetivo:</a:t>
            </a:r>
            <a:endParaRPr lang="en-US" sz="1300" dirty="0"/>
          </a:p>
        </p:txBody>
      </p:sp>
      <p:pic>
        <p:nvPicPr>
          <p:cNvPr id="18" name="Image 3" descr="eq/asy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3605807"/>
            <a:ext cx="2834640" cy="60650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892040" y="437083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Ej.: el cifrado (intercambio de dos letras)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88900" dist="38100" dir="5400000">
              <a:srgbClr val="0E2A47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612648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75488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IRREDUCIBILIDAD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7132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cadena que NO es irreducible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4617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Irreducible: todos los estados se comunican. Reducible: no se cumple esa condición.</a:t>
            </a:r>
            <a:endParaRPr lang="en-US" sz="14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absorbente (ruina del jugador): desde 0 nunca se vuelve, así que 0 no se comunica con el resto.</a:t>
            </a:r>
            <a:endParaRPr lang="en-US" sz="14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desconectadas: con {1,2} y {3,4} sin pasaje entre sí, arrancando en 1 nunca alcanzás 3 ni 4.</a:t>
            </a:r>
            <a:endParaRPr lang="en-US" sz="14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irreducibilidad garantiza recorrer todo el espacio: condición para una única estacionaria.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0" y="1828800"/>
            <a:ext cx="2971800" cy="868680"/>
          </a:xfrm>
          <a:prstGeom prst="roundRect">
            <a:avLst>
              <a:gd name="adj" fmla="val 8421"/>
            </a:avLst>
          </a:prstGeom>
          <a:solidFill>
            <a:srgbClr val="E3EFF2"/>
          </a:solidFill>
          <a:ln w="12700">
            <a:solidFill>
              <a:srgbClr val="CCDDE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0" y="3246120"/>
            <a:ext cx="2971800" cy="868680"/>
          </a:xfrm>
          <a:prstGeom prst="roundRect">
            <a:avLst>
              <a:gd name="adj" fmla="val 8421"/>
            </a:avLst>
          </a:prstGeom>
          <a:solidFill>
            <a:srgbClr val="E3EFF2"/>
          </a:solidFill>
          <a:ln w="12700">
            <a:solidFill>
              <a:srgbClr val="CCDDE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25312" y="2011680"/>
            <a:ext cx="493776" cy="49377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0E2A4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25312" y="20116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525512" y="2011680"/>
            <a:ext cx="493776" cy="49377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0E2A4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25512" y="20116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925312" y="3429000"/>
            <a:ext cx="493776" cy="49377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0E2A4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25312" y="34290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525512" y="3429000"/>
            <a:ext cx="493776" cy="49377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0E2A4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525512" y="34290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446520" y="2258568"/>
            <a:ext cx="1078992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  <a:headEnd type="triangle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6446520" y="3675888"/>
            <a:ext cx="1078992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  <a:headEnd type="triangle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5852160" y="2971800"/>
            <a:ext cx="2240280" cy="0"/>
          </a:xfrm>
          <a:prstGeom prst="line">
            <a:avLst/>
          </a:prstGeom>
          <a:noFill/>
          <a:ln w="25400">
            <a:solidFill>
              <a:srgbClr val="C1432F"/>
            </a:solidFill>
            <a:prstDash val="dash"/>
          </a:ln>
        </p:spPr>
      </p:sp>
      <p:sp>
        <p:nvSpPr>
          <p:cNvPr id="20" name="Shape 17"/>
          <p:cNvSpPr/>
          <p:nvPr/>
        </p:nvSpPr>
        <p:spPr>
          <a:xfrm>
            <a:off x="6784848" y="278892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1432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784848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14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394960" y="422452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pasaje entre clases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88900" dist="38100" dir="5400000">
              <a:srgbClr val="0E2A47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612648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75488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REVERSIBILIDAD · POR QUÉ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7132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¿Por qué la queremos?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46177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necesitás es que tu objetivo π sea la estacionaria (π = πP). Imponerlo directamente sobre P es difícil.</a:t>
            </a:r>
            <a:endParaRPr lang="en-US" sz="14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balance detallado es una condición local, par a par, fácil de forzar eligiendo la probabilidad de aceptación.</a:t>
            </a:r>
            <a:endParaRPr lang="en-US" sz="14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es suficiente: sumando π_i P_ij = π_j P_ji sobre i se obtiene π = πP.</a:t>
            </a:r>
            <a:endParaRPr lang="en-US" sz="14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M–H consigue, gratis y por construcción, que cualquier π elegida sea la estacionaria. Ese es el beneficio.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4315968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 muestreadores MCMC no reversibles; la reversibilidad es el principio que hace simple y correcto a M–H.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623560" y="1828800"/>
            <a:ext cx="3017520" cy="960120"/>
          </a:xfrm>
          <a:prstGeom prst="roundRect">
            <a:avLst>
              <a:gd name="adj" fmla="val 7619"/>
            </a:avLst>
          </a:prstGeom>
          <a:solidFill>
            <a:srgbClr val="F2F6F8"/>
          </a:solidFill>
          <a:ln w="12700">
            <a:solidFill>
              <a:srgbClr val="E7EEF2"/>
            </a:solidFill>
            <a:prstDash val="solid"/>
          </a:ln>
          <a:effectLst>
            <a:outerShdw sx="100000" sy="100000" kx="0" ky="0" algn="bl" rotWithShape="0" blurRad="88900" dist="38100" dir="5400000">
              <a:srgbClr val="0E2A47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806440" y="20299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Fácil de imponer (local)</a:t>
            </a:r>
            <a:endParaRPr lang="en-US" sz="1200" dirty="0"/>
          </a:p>
        </p:txBody>
      </p:sp>
      <p:pic>
        <p:nvPicPr>
          <p:cNvPr id="10" name="Image 1" descr="eq/d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8290" y="2414016"/>
            <a:ext cx="748061" cy="17373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623560" y="2971800"/>
            <a:ext cx="3017520" cy="1188720"/>
          </a:xfrm>
          <a:prstGeom prst="roundRect">
            <a:avLst>
              <a:gd name="adj" fmla="val 6154"/>
            </a:avLst>
          </a:prstGeom>
          <a:solidFill>
            <a:srgbClr val="F2F6F8"/>
          </a:solidFill>
          <a:ln w="12700">
            <a:solidFill>
              <a:srgbClr val="E7EEF2"/>
            </a:solidFill>
            <a:prstDash val="solid"/>
          </a:ln>
          <a:effectLst>
            <a:outerShdw sx="100000" sy="100000" kx="0" ky="0" algn="bl" rotWithShape="0" blurRad="88900" dist="38100" dir="5400000">
              <a:srgbClr val="0E2A47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5806440" y="31729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Suficiente ⟹ estacionariedad</a:t>
            </a:r>
            <a:endParaRPr lang="en-US" sz="1200" dirty="0"/>
          </a:p>
        </p:txBody>
      </p:sp>
      <p:pic>
        <p:nvPicPr>
          <p:cNvPr id="13" name="Image 2" descr="eq/sumtost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9836" y="3557016"/>
            <a:ext cx="1904967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88900" dist="38100" dir="5400000">
              <a:srgbClr val="0E2A47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612648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75488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CONSTANTE DE NORMALIZACIÓN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7132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es Z?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4617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π(f) ∝ score(f) todavía no es una distribución: hay que dividir por Z para que las probabilidades sumen 1.</a:t>
            </a:r>
            <a:endParaRPr lang="en-US" sz="14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es la suma de los puntajes sobre TODAS las funciones posibles (27! ≈ 10²⁸ permutaciones): intratable.</a:t>
            </a:r>
            <a:endParaRPr lang="en-US" sz="14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M–H solo usa cocientes π_j / π_i, y ahí Z aparece arriba y abajo y se cancela. Nunca hace falta calcularla.</a:t>
            </a:r>
            <a:endParaRPr lang="en-US" sz="14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rol en otros casos: el conteo c de secuencias buenas (Sec. 5.1) o la “evidencia” en estadística bayesiana.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623560" y="1828800"/>
            <a:ext cx="3017520" cy="1097280"/>
          </a:xfrm>
          <a:prstGeom prst="roundRect">
            <a:avLst>
              <a:gd name="adj" fmla="val 6667"/>
            </a:avLst>
          </a:prstGeom>
          <a:solidFill>
            <a:srgbClr val="F2F6F8"/>
          </a:solidFill>
          <a:ln w="12700">
            <a:solidFill>
              <a:srgbClr val="E7EEF2"/>
            </a:solidFill>
            <a:prstDash val="solid"/>
          </a:ln>
          <a:effectLst>
            <a:outerShdw sx="100000" sy="100000" kx="0" ky="0" algn="bl" rotWithShape="0" blurRad="88900" dist="38100" dir="5400000">
              <a:srgbClr val="0E2A47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806440" y="20299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Definición</a:t>
            </a:r>
            <a:endParaRPr lang="en-US" sz="1200" dirty="0"/>
          </a:p>
        </p:txBody>
      </p:sp>
      <p:pic>
        <p:nvPicPr>
          <p:cNvPr id="9" name="Image 1" descr="eq/zde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2012" y="2414016"/>
            <a:ext cx="1960615" cy="31089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623560" y="3063240"/>
            <a:ext cx="3017520" cy="1234440"/>
          </a:xfrm>
          <a:prstGeom prst="roundRect">
            <a:avLst>
              <a:gd name="adj" fmla="val 5926"/>
            </a:avLst>
          </a:prstGeom>
          <a:solidFill>
            <a:srgbClr val="F2F6F8"/>
          </a:solidFill>
          <a:ln w="12700">
            <a:solidFill>
              <a:srgbClr val="E7EEF2"/>
            </a:solidFill>
            <a:prstDash val="solid"/>
          </a:ln>
          <a:effectLst>
            <a:outerShdw sx="100000" sy="100000" kx="0" ky="0" algn="bl" rotWithShape="0" blurRad="88900" dist="38100" dir="5400000">
              <a:srgbClr val="0E2A47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5806440" y="32644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qué no se necesita</a:t>
            </a:r>
            <a:endParaRPr lang="en-US" sz="1200" dirty="0"/>
          </a:p>
        </p:txBody>
      </p:sp>
      <p:pic>
        <p:nvPicPr>
          <p:cNvPr id="12" name="Image 2" descr="eq/zcance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1050" y="3648456"/>
            <a:ext cx="2422540" cy="4480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88900" dist="38100" dir="5400000">
              <a:srgbClr val="0E2A47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612648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75488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 DOS INGREDIENTES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7132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Propuesta y objetivo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3931920" cy="2331720"/>
          </a:xfrm>
          <a:prstGeom prst="roundRect">
            <a:avLst>
              <a:gd name="adj" fmla="val 3137"/>
            </a:avLst>
          </a:prstGeom>
          <a:solidFill>
            <a:srgbClr val="F2F6F8"/>
          </a:solidFill>
          <a:ln w="12700">
            <a:solidFill>
              <a:srgbClr val="E7EEF2"/>
            </a:solidFill>
            <a:prstDash val="solid"/>
          </a:ln>
          <a:effectLst>
            <a:outerShdw sx="100000" sy="100000" kx="0" ky="0" algn="bl" rotWithShape="0" blurRad="88900" dist="38100" dir="5400000">
              <a:srgbClr val="0E2A47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18105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  ·  π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148840"/>
            <a:ext cx="3520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distribución que querés muestrear; la fijás como estacionaria de la cadena.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cifrado: π(f) ∝ score(f).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destino: visitar cada estado en proporción a π.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663440" y="1645920"/>
            <a:ext cx="3931920" cy="2331720"/>
          </a:xfrm>
          <a:prstGeom prst="roundRect">
            <a:avLst>
              <a:gd name="adj" fmla="val 3137"/>
            </a:avLst>
          </a:prstGeom>
          <a:solidFill>
            <a:srgbClr val="F2F6F8"/>
          </a:solidFill>
          <a:ln w="12700">
            <a:solidFill>
              <a:srgbClr val="E7EEF2"/>
            </a:solidFill>
            <a:prstDash val="solid"/>
          </a:ln>
          <a:effectLst>
            <a:outerShdw sx="100000" sy="100000" kx="0" ky="0" algn="bl" rotWithShape="0" blurRad="88900" dist="38100" dir="5400000">
              <a:srgbClr val="0E2A47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892040" y="18105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PROPUESTA  ·  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892040" y="2148840"/>
            <a:ext cx="3520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Sugiere el candidato j desde i, con probabilidad T_ij.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elegís vos y sabés muestrear de ella fácilmente.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cifrado: intercambiar dos letras al azar.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48640" y="4160520"/>
            <a:ext cx="8046720" cy="658368"/>
          </a:xfrm>
          <a:prstGeom prst="roundRect">
            <a:avLst>
              <a:gd name="adj" fmla="val 11111"/>
            </a:avLst>
          </a:prstGeom>
          <a:solidFill>
            <a:srgbClr val="0E2A47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4224528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aceptación/rechazo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corrige el sesgo de la propuesta para que la distribución límite sea el objetivo π, no la de la propuesta.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88900" dist="38100" dir="5400000">
              <a:srgbClr val="0E2A47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612648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75488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SECCIÓN 5.2 · TEOREMA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7132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Balance detallado (1): el montaje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480060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probar que π_i P_ij = π_j P_ji para todo i, j. Esto implica que π es estacionaria y que la cadena M–H es reversible.</a:t>
            </a:r>
            <a:endParaRPr lang="en-US" sz="14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i ≠ j, ir de i a j requiere dos cosas: (i) que j se proponga, con probabilidad T_ij, y (ii) que j se acepte, con probabilidad a(i,j).</a:t>
            </a:r>
            <a:endParaRPr lang="en-US" sz="14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P(U ≤ a(i,j)) = mín(1, a(i,j)), la entrada P_ij toma dos formas según cuál de π_i T_ij y π_j T_ji sea mayor.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623560" y="1828800"/>
            <a:ext cx="3017520" cy="960120"/>
          </a:xfrm>
          <a:prstGeom prst="roundRect">
            <a:avLst>
              <a:gd name="adj" fmla="val 7619"/>
            </a:avLst>
          </a:prstGeom>
          <a:solidFill>
            <a:srgbClr val="F2F6F8"/>
          </a:solidFill>
          <a:ln w="12700">
            <a:solidFill>
              <a:srgbClr val="E7EEF2"/>
            </a:solidFill>
            <a:prstDash val="solid"/>
          </a:ln>
          <a:effectLst>
            <a:outerShdw sx="100000" sy="100000" kx="0" ky="0" algn="bl" rotWithShape="0" blurRad="88900" dist="38100" dir="5400000">
              <a:srgbClr val="0E2A47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806440" y="20299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Probabilidad de aceptar</a:t>
            </a:r>
            <a:endParaRPr lang="en-US" sz="1200" dirty="0"/>
          </a:p>
        </p:txBody>
      </p:sp>
      <p:pic>
        <p:nvPicPr>
          <p:cNvPr id="9" name="Image 1" descr="eq/accep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4213" y="2414016"/>
            <a:ext cx="1996215" cy="17373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623560" y="2971800"/>
            <a:ext cx="3017520" cy="1051560"/>
          </a:xfrm>
          <a:prstGeom prst="roundRect">
            <a:avLst>
              <a:gd name="adj" fmla="val 6957"/>
            </a:avLst>
          </a:prstGeom>
          <a:solidFill>
            <a:srgbClr val="F2F6F8"/>
          </a:solidFill>
          <a:ln w="12700">
            <a:solidFill>
              <a:srgbClr val="E7EEF2"/>
            </a:solidFill>
            <a:prstDash val="solid"/>
          </a:ln>
          <a:effectLst>
            <a:outerShdw sx="100000" sy="100000" kx="0" ky="0" algn="bl" rotWithShape="0" blurRad="88900" dist="38100" dir="5400000">
              <a:srgbClr val="0E2A47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5806440" y="31729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 π_j T_ji ≤ π_i T_ij</a:t>
            </a:r>
            <a:endParaRPr lang="en-US" sz="1200" dirty="0"/>
          </a:p>
        </p:txBody>
      </p:sp>
      <p:pic>
        <p:nvPicPr>
          <p:cNvPr id="12" name="Image 2" descr="eq/pij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3027" y="3557016"/>
            <a:ext cx="1238586" cy="26517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88900" dist="38100" dir="5400000">
              <a:srgbClr val="0E2A47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612648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75488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SECCIÓN 5.2 · TEOREMA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7132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Balance detallado (2): verificación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645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π_j T_ji ≤ π_i T_ij. Reemplazando a(i,j) y simplificando: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8046720" cy="1143000"/>
          </a:xfrm>
          <a:prstGeom prst="roundRect">
            <a:avLst>
              <a:gd name="adj" fmla="val 6400"/>
            </a:avLst>
          </a:prstGeom>
          <a:solidFill>
            <a:srgbClr val="F2F6F8"/>
          </a:solidFill>
          <a:ln w="12700">
            <a:solidFill>
              <a:srgbClr val="E7EEF2"/>
            </a:solidFill>
            <a:prstDash val="solid"/>
          </a:ln>
          <a:effectLst>
            <a:outerShdw sx="100000" sy="100000" kx="0" ky="0" algn="bl" rotWithShape="0" blurRad="88900" dist="38100" dir="5400000">
              <a:srgbClr val="0E2A47">
                <a:alpha val="12000"/>
              </a:srgbClr>
            </a:outerShdw>
          </a:effectLst>
        </p:spPr>
      </p:sp>
      <p:pic>
        <p:nvPicPr>
          <p:cNvPr id="8" name="Image 1" descr="eq/proofch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212" y="2240280"/>
            <a:ext cx="5829575" cy="8686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otro caso (π_j T_ji &gt; π_i T_ij) es análogo, intercambiando los papeles de i y j.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3886200"/>
            <a:ext cx="8046720" cy="868680"/>
          </a:xfrm>
          <a:prstGeom prst="roundRect">
            <a:avLst>
              <a:gd name="adj" fmla="val 8421"/>
            </a:avLst>
          </a:prstGeom>
          <a:solidFill>
            <a:srgbClr val="0E2A47"/>
          </a:solidFill>
          <a:ln/>
        </p:spPr>
      </p:sp>
      <p:sp>
        <p:nvSpPr>
          <p:cNvPr id="11" name="Text 7"/>
          <p:cNvSpPr/>
          <p:nvPr/>
        </p:nvSpPr>
        <p:spPr>
          <a:xfrm>
            <a:off x="868680" y="3959352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Conclusión.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cumple el balance detallado para todo i, j ⟹ π es la estacionaria y la cadena de Metropolis–Hastings es reversible.  ∎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62179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75488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C4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CIERRE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7132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Síntesis: ¿qué término se cancela?</a:t>
            </a:r>
            <a:endParaRPr lang="en-US" sz="27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78638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468880"/>
                <a:gridCol w="28346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E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Situación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74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4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C46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E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cancela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74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4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C46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E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a(i,j) queda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74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4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C46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8EF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 uniforme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74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4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8EF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π_j / π_i = 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74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4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8EF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T_ji / T_ij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74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4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4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8EF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Propuesta T simétrica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74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4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1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8EF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T_ij = T_ji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74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4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1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8EF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π_j / π_i  =  score(f*) / score(f)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74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4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13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8EF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 general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74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4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8EF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(nada)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74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4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8EF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(π_j T_ji) / (π_i T_ij)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74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4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4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4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4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40080" y="4526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idea: M–H solo usa cocientes; según el problema, se cancela la propuesta o el objetivo.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Metropolis-Hastings: preguntas conceptuales</dc:title>
  <dc:subject>PptxGenJS Presentation</dc:subject>
  <dc:creator>Alfredo</dc:creator>
  <cp:lastModifiedBy>Alfredo</cp:lastModifiedBy>
  <cp:revision>1</cp:revision>
  <dcterms:created xsi:type="dcterms:W3CDTF">2026-06-08T21:02:44Z</dcterms:created>
  <dcterms:modified xsi:type="dcterms:W3CDTF">2026-06-08T21:02:44Z</dcterms:modified>
</cp:coreProperties>
</file>